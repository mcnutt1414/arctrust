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0" y="-2743200"/>
            <a:ext cx="9144000" cy="9144000"/>
          </a:xfrm>
          <a:prstGeom prst="ellipse">
            <a:avLst/>
          </a:prstGeom>
          <a:solidFill>
            <a:srgbClr val="7C5CFF">
              <a:alpha val="20000"/>
            </a:srgbClr>
          </a:solidFill>
          <a:ln w="12700">
            <a:solidFill>
              <a:srgbClr val="7C5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2286000"/>
            <a:ext cx="9144000" cy="9144000"/>
          </a:xfrm>
          <a:prstGeom prst="ellipse">
            <a:avLst/>
          </a:prstGeom>
          <a:solidFill>
            <a:srgbClr val="00E0B0">
              <a:alpha val="14000"/>
            </a:srgbClr>
          </a:solidFill>
          <a:ln w="12700">
            <a:solidFill>
              <a:srgbClr val="00E0B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914400"/>
            <a:ext cx="3840480" cy="384048"/>
          </a:xfrm>
          <a:prstGeom prst="roundRect">
            <a:avLst>
              <a:gd name="adj" fmla="val 50000"/>
            </a:avLst>
          </a:prstGeom>
          <a:solidFill>
            <a:srgbClr val="12141B">
              <a:alpha val="70000"/>
            </a:srgbClr>
          </a:solidFill>
          <a:ln w="12700">
            <a:solidFill>
              <a:srgbClr val="1F22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060704"/>
            <a:ext cx="109728" cy="109728"/>
          </a:xfrm>
          <a:prstGeom prst="ellipse">
            <a:avLst/>
          </a:prstGeom>
          <a:solidFill>
            <a:srgbClr val="00E0B0"/>
          </a:solidFill>
          <a:ln w="12700">
            <a:solidFill>
              <a:srgbClr val="00E0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9144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E6E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for Arc  ·  Circle Nanopayments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ArcTrust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4000" b="1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 API providers,</a:t>
            </a:r>
            <a:endParaRPr lang="en-US" sz="4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400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by the call.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22960" y="48006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discovery layer for paid APIs on the Arc blockchain. Pay per call with USDC, save with bulk pricing, and trust the providers real developers actually buy from.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5989320"/>
            <a:ext cx="274320" cy="36576"/>
          </a:xfrm>
          <a:prstGeom prst="rect">
            <a:avLst/>
          </a:prstGeom>
          <a:solidFill>
            <a:srgbClr val="00E0B0"/>
          </a:solidFill>
          <a:ln w="12700">
            <a:solidFill>
              <a:srgbClr val="00E0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5852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by Ryan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Hackathon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7C5CFF">
              <a:alpha val="12000"/>
            </a:srgbClr>
          </a:solidFill>
          <a:ln w="12700">
            <a:solidFill>
              <a:srgbClr val="7C5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3200400"/>
            <a:ext cx="7315200" cy="7315200"/>
          </a:xfrm>
          <a:prstGeom prst="ellipse">
            <a:avLst/>
          </a:prstGeom>
          <a:solidFill>
            <a:srgbClr val="00E0B0">
              <a:alpha val="8000"/>
            </a:srgbClr>
          </a:solidFill>
          <a:ln w="12700">
            <a:solidFill>
              <a:srgbClr val="00E0B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7C5CFF">
              <a:alpha val="60000"/>
            </a:srgbClr>
          </a:solidFill>
          <a:ln w="12700">
            <a:solidFill>
              <a:srgbClr val="7C5C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02920"/>
            <a:ext cx="164592" cy="164592"/>
          </a:xfrm>
          <a:prstGeom prst="rect">
            <a:avLst/>
          </a:prstGeom>
          <a:solidFill>
            <a:srgbClr val="00E0B0"/>
          </a:solidFill>
          <a:ln w="12700">
            <a:solidFill>
              <a:srgbClr val="00E0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E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PROBLEM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332720" y="4114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ArcTrust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for APIs is stuck in 2015.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want flexible, granular access — but the way we discover, pay for, and trust APIs hasn't kept up with how teams actually ship.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017520"/>
            <a:ext cx="3520440" cy="2926080"/>
          </a:xfrm>
          <a:prstGeom prst="roundRect">
            <a:avLst>
              <a:gd name="adj" fmla="val 3750"/>
            </a:avLst>
          </a:prstGeom>
          <a:solidFill>
            <a:srgbClr val="12141B"/>
          </a:solidFill>
          <a:ln w="12700">
            <a:solidFill>
              <a:srgbClr val="1F222C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3017520"/>
            <a:ext cx="3520440" cy="73152"/>
          </a:xfrm>
          <a:prstGeom prst="rect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2918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C5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37947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into subscriptions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14400" y="48006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minimums punish low-volume teams and weekend builders. Either you over-pay or you can't get access at all.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43400" y="3017520"/>
            <a:ext cx="3520440" cy="2926080"/>
          </a:xfrm>
          <a:prstGeom prst="roundRect">
            <a:avLst>
              <a:gd name="adj" fmla="val 3750"/>
            </a:avLst>
          </a:prstGeom>
          <a:solidFill>
            <a:srgbClr val="12141B"/>
          </a:solidFill>
          <a:ln w="12700">
            <a:solidFill>
              <a:srgbClr val="1F222C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43400" y="3017520"/>
            <a:ext cx="3520440" cy="73152"/>
          </a:xfrm>
          <a:prstGeom prst="rect">
            <a:avLst/>
          </a:prstGeom>
          <a:solidFill>
            <a:srgbClr val="00E0B0"/>
          </a:solidFill>
          <a:ln w="12700">
            <a:solidFill>
              <a:srgbClr val="00E0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32918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E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17720" y="37947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by vanity metric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17720" y="48006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stars and 5-star reviews tell you nothing about whether real teams trust a provider with real money.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46720" y="3017520"/>
            <a:ext cx="3520440" cy="2926080"/>
          </a:xfrm>
          <a:prstGeom prst="roundRect">
            <a:avLst>
              <a:gd name="adj" fmla="val 3750"/>
            </a:avLst>
          </a:prstGeom>
          <a:solidFill>
            <a:srgbClr val="12141B"/>
          </a:solidFill>
          <a:ln w="12700">
            <a:solidFill>
              <a:srgbClr val="1F222C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46720" y="3017520"/>
            <a:ext cx="3520440" cy="73152"/>
          </a:xfrm>
          <a:prstGeom prst="rect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1040" y="32918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C5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21040" y="37947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proof of usage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321040" y="48006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Bills, receipts, and rate-limit disputes are off-chain promises. Audit trails live in vendor dashboards you don't control.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6355080"/>
            <a:ext cx="1463040" cy="18288"/>
          </a:xfrm>
          <a:prstGeom prst="rect">
            <a:avLst/>
          </a:prstGeom>
          <a:solidFill>
            <a:srgbClr val="1F222C"/>
          </a:solidFill>
          <a:ln w="12700">
            <a:solidFill>
              <a:srgbClr val="1F22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789920" y="6309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8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ArcTrust  · 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7C5CFF">
              <a:alpha val="12000"/>
            </a:srgbClr>
          </a:solidFill>
          <a:ln w="12700">
            <a:solidFill>
              <a:srgbClr val="7C5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3200400"/>
            <a:ext cx="7315200" cy="7315200"/>
          </a:xfrm>
          <a:prstGeom prst="ellipse">
            <a:avLst/>
          </a:prstGeom>
          <a:solidFill>
            <a:srgbClr val="00E0B0">
              <a:alpha val="8000"/>
            </a:srgbClr>
          </a:solidFill>
          <a:ln w="12700">
            <a:solidFill>
              <a:srgbClr val="00E0B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7C5CFF">
              <a:alpha val="60000"/>
            </a:srgbClr>
          </a:solidFill>
          <a:ln w="12700">
            <a:solidFill>
              <a:srgbClr val="7C5C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02920"/>
            <a:ext cx="164592" cy="164592"/>
          </a:xfrm>
          <a:prstGeom prst="rect">
            <a:avLst/>
          </a:prstGeom>
          <a:solidFill>
            <a:srgbClr val="00E0B0"/>
          </a:solidFill>
          <a:ln w="12700">
            <a:solidFill>
              <a:srgbClr val="00E0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E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MARKET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332720" y="4114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ArcTrust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are eating software.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 is now a stack of someone else's API. Developers are the buyers, and they want pricing and trust signals that match how they build.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97180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12141B"/>
          </a:solidFill>
          <a:ln w="12700">
            <a:solidFill>
              <a:srgbClr val="1F222C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320040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$26B+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914400" y="45262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API management market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5212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B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Growing double-digits each year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43400" y="297180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12141B"/>
          </a:solidFill>
          <a:ln w="12700">
            <a:solidFill>
              <a:srgbClr val="1F222C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17720" y="320040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00E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6000" dirty="0"/>
          </a:p>
        </p:txBody>
      </p:sp>
      <p:sp>
        <p:nvSpPr>
          <p:cNvPr id="16" name="Text 14"/>
          <p:cNvSpPr/>
          <p:nvPr/>
        </p:nvSpPr>
        <p:spPr>
          <a:xfrm>
            <a:off x="4617720" y="45262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developers use 3rd-party APIs daily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17720" y="5212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B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Postman 2024 State of the API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46720" y="297180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12141B"/>
          </a:solidFill>
          <a:ln w="12700">
            <a:solidFill>
              <a:srgbClr val="1F222C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21040" y="320040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200M+</a:t>
            </a:r>
            <a:endParaRPr lang="en-US" sz="6000" dirty="0"/>
          </a:p>
        </p:txBody>
      </p:sp>
      <p:sp>
        <p:nvSpPr>
          <p:cNvPr id="20" name="Text 18"/>
          <p:cNvSpPr/>
          <p:nvPr/>
        </p:nvSpPr>
        <p:spPr>
          <a:xfrm>
            <a:off x="8321040" y="45262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USDC settled monthly via Circle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21040" y="5212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B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Stablecoins are the new rails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5806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E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buyers are sophisticated. The buying experience hasn't caught up.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6355080"/>
            <a:ext cx="1463040" cy="18288"/>
          </a:xfrm>
          <a:prstGeom prst="rect">
            <a:avLst/>
          </a:prstGeom>
          <a:solidFill>
            <a:srgbClr val="1F222C"/>
          </a:solidFill>
          <a:ln w="12700">
            <a:solidFill>
              <a:srgbClr val="1F222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89920" y="6309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8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ArcTrust  · 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7C5CFF">
              <a:alpha val="12000"/>
            </a:srgbClr>
          </a:solidFill>
          <a:ln w="12700">
            <a:solidFill>
              <a:srgbClr val="7C5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3200400"/>
            <a:ext cx="7315200" cy="7315200"/>
          </a:xfrm>
          <a:prstGeom prst="ellipse">
            <a:avLst/>
          </a:prstGeom>
          <a:solidFill>
            <a:srgbClr val="00E0B0">
              <a:alpha val="8000"/>
            </a:srgbClr>
          </a:solidFill>
          <a:ln w="12700">
            <a:solidFill>
              <a:srgbClr val="00E0B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7C5CFF">
              <a:alpha val="60000"/>
            </a:srgbClr>
          </a:solidFill>
          <a:ln w="12700">
            <a:solidFill>
              <a:srgbClr val="7C5C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02920"/>
            <a:ext cx="164592" cy="164592"/>
          </a:xfrm>
          <a:prstGeom prst="rect">
            <a:avLst/>
          </a:prstGeom>
          <a:solidFill>
            <a:srgbClr val="00E0B0"/>
          </a:solidFill>
          <a:ln w="12700">
            <a:solidFill>
              <a:srgbClr val="00E0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E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CURRENT SOLUTIONS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332720" y="4114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ArcTrust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teams buy APIs today.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rough patterns dominate — and each leaves a real gap.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Approach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0" y="2606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they offer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863840" y="2606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What's missing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108960"/>
            <a:ext cx="10881360" cy="18288"/>
          </a:xfrm>
          <a:prstGeom prst="rect">
            <a:avLst/>
          </a:prstGeom>
          <a:solidFill>
            <a:srgbClr val="1F222C"/>
          </a:solidFill>
          <a:ln w="12700">
            <a:solidFill>
              <a:srgbClr val="1F222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200400"/>
            <a:ext cx="10881360" cy="731520"/>
          </a:xfrm>
          <a:prstGeom prst="rect">
            <a:avLst/>
          </a:prstGeom>
          <a:solidFill>
            <a:srgbClr val="171A23">
              <a:alpha val="60000"/>
            </a:srgbClr>
          </a:solidFill>
          <a:ln w="12700">
            <a:solidFill>
              <a:srgbClr val="171A2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246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 (Stripe / SaaS)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0" y="324612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monthly revenue for vendors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863840" y="32461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for ad-hoc usage; no micro-payments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4023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Marketplaces (RapidAPI, Postman)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0" y="402336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sign-on for many APIs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863840" y="40233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Walled gardens, opaque fees, vanity ratings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754880"/>
            <a:ext cx="10881360" cy="731520"/>
          </a:xfrm>
          <a:prstGeom prst="rect">
            <a:avLst/>
          </a:prstGeom>
          <a:solidFill>
            <a:srgbClr val="171A23">
              <a:alpha val="60000"/>
            </a:srgbClr>
          </a:solidFill>
          <a:ln w="12700">
            <a:solidFill>
              <a:srgbClr val="171A2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8006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 billing + invoices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0" y="480060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vendor control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863840" y="48006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Disputes, no audit trail, slow settlement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548640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12141B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5486400"/>
            <a:ext cx="73152" cy="777240"/>
          </a:xfrm>
          <a:prstGeom prst="rect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4864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E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gap:  </a:t>
            </a:r>
            <a:pPr indent="0" marL="0">
              <a:buNone/>
            </a:pPr>
            <a:r>
              <a:rPr lang="en-US" sz="140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offers true pay-per-call pricing with on-chain proof and reputation built from real buyer demand.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" y="6355080"/>
            <a:ext cx="1463040" cy="18288"/>
          </a:xfrm>
          <a:prstGeom prst="rect">
            <a:avLst/>
          </a:prstGeom>
          <a:solidFill>
            <a:srgbClr val="1F222C"/>
          </a:solidFill>
          <a:ln w="12700">
            <a:solidFill>
              <a:srgbClr val="1F222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789920" y="6309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8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ArcTrust  · 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7C5CFF">
              <a:alpha val="12000"/>
            </a:srgbClr>
          </a:solidFill>
          <a:ln w="12700">
            <a:solidFill>
              <a:srgbClr val="7C5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3200400"/>
            <a:ext cx="7315200" cy="7315200"/>
          </a:xfrm>
          <a:prstGeom prst="ellipse">
            <a:avLst/>
          </a:prstGeom>
          <a:solidFill>
            <a:srgbClr val="00E0B0">
              <a:alpha val="8000"/>
            </a:srgbClr>
          </a:solidFill>
          <a:ln w="12700">
            <a:solidFill>
              <a:srgbClr val="00E0B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7C5CFF">
              <a:alpha val="60000"/>
            </a:srgbClr>
          </a:solidFill>
          <a:ln w="12700">
            <a:solidFill>
              <a:srgbClr val="7C5C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02920"/>
            <a:ext cx="164592" cy="164592"/>
          </a:xfrm>
          <a:prstGeom prst="rect">
            <a:avLst/>
          </a:prstGeom>
          <a:solidFill>
            <a:srgbClr val="00E0B0"/>
          </a:solidFill>
          <a:ln w="12700">
            <a:solidFill>
              <a:srgbClr val="00E0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E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SOLUTION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332720" y="4114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ArcTrust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ArcTrust </a:t>
            </a:r>
            <a:pPr indent="0" marL="0">
              <a:buNone/>
            </a:pPr>
            <a:r>
              <a:rPr lang="en-US" sz="4000" b="1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the buy.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discovery and transaction layer for paid APIs on the Arc blockchain. Browse, buy, and settle every call in USDC — with reputation that comes from actual usage.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788920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12141B"/>
          </a:solidFill>
          <a:ln w="12700">
            <a:solidFill>
              <a:srgbClr val="1F222C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788920"/>
            <a:ext cx="73152" cy="1371600"/>
          </a:xfrm>
          <a:prstGeom prst="rect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953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C5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DISCOVERY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324612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APIs that real teams pay for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374904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providers ranked by on-chain bulk-buyer demand — not stars.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53912" y="2788920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12141B"/>
          </a:solidFill>
          <a:ln w="12700">
            <a:solidFill>
              <a:srgbClr val="1F222C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53912" y="2788920"/>
            <a:ext cx="73152" cy="1371600"/>
          </a:xfrm>
          <a:prstGeom prst="rect">
            <a:avLst/>
          </a:prstGeom>
          <a:solidFill>
            <a:srgbClr val="00E0B0"/>
          </a:solidFill>
          <a:ln w="12700">
            <a:solidFill>
              <a:srgbClr val="00E0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8232" y="2953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E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PAY-PER-CALL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28232" y="324612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Nanopayments in USDC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28232" y="374904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 each request as a stablecoin micro-payment. No subscriptions, no minimums.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325112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12141B"/>
          </a:solidFill>
          <a:ln w="12700">
            <a:solidFill>
              <a:srgbClr val="1F222C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4325112"/>
            <a:ext cx="73152" cy="1371600"/>
          </a:xfrm>
          <a:prstGeom prst="rect">
            <a:avLst/>
          </a:prstGeom>
          <a:solidFill>
            <a:srgbClr val="00E0B0"/>
          </a:solidFill>
          <a:ln w="12700">
            <a:solidFill>
              <a:srgbClr val="00E0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4897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E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BULK PRICING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400" y="4782312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Pre-buy volume, lock in discounts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14400" y="5285232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packs (1, 100, 1k, 10k+) priced in USDC and stored as on-chain credits.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53912" y="4325112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12141B"/>
          </a:solidFill>
          <a:ln w="12700">
            <a:solidFill>
              <a:srgbClr val="1F222C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53912" y="4325112"/>
            <a:ext cx="73152" cy="1371600"/>
          </a:xfrm>
          <a:prstGeom prst="rect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28232" y="44897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C5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ON-CHAIN PROOF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28232" y="4782312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Receipts that auditors can read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428232" y="5285232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is settled on Arc — verifiable usage and trust signals come for free.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5852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E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 become optional.  Stars become irrelevant.  Receipts become trust.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0080" y="6355080"/>
            <a:ext cx="1463040" cy="18288"/>
          </a:xfrm>
          <a:prstGeom prst="rect">
            <a:avLst/>
          </a:prstGeom>
          <a:solidFill>
            <a:srgbClr val="1F222C"/>
          </a:solidFill>
          <a:ln w="12700">
            <a:solidFill>
              <a:srgbClr val="1F222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789920" y="6309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8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08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ArcTrust  · 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7C5CFF">
              <a:alpha val="12000"/>
            </a:srgbClr>
          </a:solidFill>
          <a:ln w="12700">
            <a:solidFill>
              <a:srgbClr val="7C5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3200400"/>
            <a:ext cx="7315200" cy="7315200"/>
          </a:xfrm>
          <a:prstGeom prst="ellipse">
            <a:avLst/>
          </a:prstGeom>
          <a:solidFill>
            <a:srgbClr val="00E0B0">
              <a:alpha val="8000"/>
            </a:srgbClr>
          </a:solidFill>
          <a:ln w="12700">
            <a:solidFill>
              <a:srgbClr val="00E0B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7C5CFF">
              <a:alpha val="60000"/>
            </a:srgbClr>
          </a:solidFill>
          <a:ln w="12700">
            <a:solidFill>
              <a:srgbClr val="7C5C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02920"/>
            <a:ext cx="164592" cy="164592"/>
          </a:xfrm>
          <a:prstGeom prst="rect">
            <a:avLst/>
          </a:prstGeom>
          <a:solidFill>
            <a:srgbClr val="00E0B0"/>
          </a:solidFill>
          <a:ln w="12700">
            <a:solidFill>
              <a:srgbClr val="00E0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E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DEMO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332720" y="4114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ArcTrust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clicks from discovery to first call.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Browse providers ranked by real demand.   2) Pick a bulk pack.   3) Get an API key + on-chain receipt.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51460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12141B"/>
          </a:solidFill>
          <a:ln w="12700">
            <a:solidFill>
              <a:srgbClr val="1F222C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269748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269748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2144" y="269748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17320" y="2679192"/>
            <a:ext cx="2560320" cy="182880"/>
          </a:xfrm>
          <a:prstGeom prst="roundRect">
            <a:avLst>
              <a:gd name="adj" fmla="val 50000"/>
            </a:avLst>
          </a:prstGeom>
          <a:solidFill>
            <a:srgbClr val="0A0B0F"/>
          </a:solidFill>
          <a:ln w="12700">
            <a:solidFill>
              <a:srgbClr val="1F22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17320" y="267919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arctrust.app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22960" y="3017520"/>
            <a:ext cx="3154680" cy="1828800"/>
          </a:xfrm>
          <a:prstGeom prst="roundRect">
            <a:avLst>
              <a:gd name="adj" fmla="val 3000"/>
            </a:avLst>
          </a:prstGeom>
          <a:solidFill>
            <a:srgbClr val="0A0B0F"/>
          </a:solidFill>
          <a:ln w="12700">
            <a:solidFill>
              <a:srgbClr val="1F22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01752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screenshot ]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49377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catalog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52578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C5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Ranked by bulk-buyer demand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43400" y="251460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12141B"/>
          </a:solidFill>
          <a:ln w="12700">
            <a:solidFill>
              <a:srgbClr val="1F222C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26280" y="269748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90872" y="269748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55464" y="269748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20640" y="2679192"/>
            <a:ext cx="2560320" cy="182880"/>
          </a:xfrm>
          <a:prstGeom prst="roundRect">
            <a:avLst>
              <a:gd name="adj" fmla="val 50000"/>
            </a:avLst>
          </a:prstGeom>
          <a:solidFill>
            <a:srgbClr val="0A0B0F"/>
          </a:solidFill>
          <a:ln w="12700">
            <a:solidFill>
              <a:srgbClr val="1F22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267919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arctrust.app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26280" y="3017520"/>
            <a:ext cx="3154680" cy="1828800"/>
          </a:xfrm>
          <a:prstGeom prst="roundRect">
            <a:avLst>
              <a:gd name="adj" fmla="val 3000"/>
            </a:avLst>
          </a:prstGeom>
          <a:solidFill>
            <a:srgbClr val="0A0B0F"/>
          </a:solidFill>
          <a:ln w="12700">
            <a:solidFill>
              <a:srgbClr val="1F222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6280" y="301752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screenshot ]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0" y="49377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 bulk packs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0" y="52578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E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 per call or lock in tiers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046720" y="251460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12141B"/>
          </a:solidFill>
          <a:ln w="12700">
            <a:solidFill>
              <a:srgbClr val="1F222C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29600" y="269748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94192" y="269748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558784" y="269748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823960" y="2679192"/>
            <a:ext cx="2560320" cy="182880"/>
          </a:xfrm>
          <a:prstGeom prst="roundRect">
            <a:avLst>
              <a:gd name="adj" fmla="val 50000"/>
            </a:avLst>
          </a:prstGeom>
          <a:solidFill>
            <a:srgbClr val="0A0B0F"/>
          </a:solidFill>
          <a:ln w="12700">
            <a:solidFill>
              <a:srgbClr val="1F222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823960" y="267919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arctrust.app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229600" y="3017520"/>
            <a:ext cx="3154680" cy="1828800"/>
          </a:xfrm>
          <a:prstGeom prst="roundRect">
            <a:avLst>
              <a:gd name="adj" fmla="val 3000"/>
            </a:avLst>
          </a:prstGeom>
          <a:solidFill>
            <a:srgbClr val="0A0B0F"/>
          </a:solidFill>
          <a:ln w="12700">
            <a:solidFill>
              <a:srgbClr val="1F222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0" y="301752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screenshot ]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275320" y="49377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receipt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275320" y="52578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C5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Verifiable USDC settlement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0080" y="5806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E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demo  ·  arctrust.app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0080" y="6355080"/>
            <a:ext cx="1463040" cy="18288"/>
          </a:xfrm>
          <a:prstGeom prst="rect">
            <a:avLst/>
          </a:prstGeom>
          <a:solidFill>
            <a:srgbClr val="1F222C"/>
          </a:solidFill>
          <a:ln w="12700">
            <a:solidFill>
              <a:srgbClr val="1F222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789920" y="6309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8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4008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ArcTrust  · 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7C5CFF">
              <a:alpha val="12000"/>
            </a:srgbClr>
          </a:solidFill>
          <a:ln w="12700">
            <a:solidFill>
              <a:srgbClr val="7C5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3200400"/>
            <a:ext cx="7315200" cy="7315200"/>
          </a:xfrm>
          <a:prstGeom prst="ellipse">
            <a:avLst/>
          </a:prstGeom>
          <a:solidFill>
            <a:srgbClr val="00E0B0">
              <a:alpha val="8000"/>
            </a:srgbClr>
          </a:solidFill>
          <a:ln w="12700">
            <a:solidFill>
              <a:srgbClr val="00E0B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7C5CFF">
              <a:alpha val="60000"/>
            </a:srgbClr>
          </a:solidFill>
          <a:ln w="12700">
            <a:solidFill>
              <a:srgbClr val="7C5C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02920"/>
            <a:ext cx="164592" cy="164592"/>
          </a:xfrm>
          <a:prstGeom prst="rect">
            <a:avLst/>
          </a:prstGeom>
          <a:solidFill>
            <a:srgbClr val="00E0B0"/>
          </a:solidFill>
          <a:ln w="12700">
            <a:solidFill>
              <a:srgbClr val="00E0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E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TECH STACK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332720" y="4114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ArcTrust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web meets on-chain rails.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quickly on tools that scale: Next.js for the experience, Circle for payments, Arc for settlement.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606040"/>
            <a:ext cx="2697480" cy="2560320"/>
          </a:xfrm>
          <a:prstGeom prst="roundRect">
            <a:avLst>
              <a:gd name="adj" fmla="val 4286"/>
            </a:avLst>
          </a:prstGeom>
          <a:solidFill>
            <a:srgbClr val="12141B"/>
          </a:solidFill>
          <a:ln w="12700">
            <a:solidFill>
              <a:srgbClr val="1F222C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606040"/>
            <a:ext cx="2697480" cy="54864"/>
          </a:xfrm>
          <a:prstGeom prst="rect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880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C5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32461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868680" y="4023360"/>
            <a:ext cx="548640" cy="27432"/>
          </a:xfrm>
          <a:prstGeom prst="rect">
            <a:avLst/>
          </a:prstGeom>
          <a:solidFill>
            <a:srgbClr val="1F222C"/>
          </a:solidFill>
          <a:ln w="12700">
            <a:solidFill>
              <a:srgbClr val="1F22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1605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19, TypeScript,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520440" y="2606040"/>
            <a:ext cx="2697480" cy="2560320"/>
          </a:xfrm>
          <a:prstGeom prst="roundRect">
            <a:avLst>
              <a:gd name="adj" fmla="val 4286"/>
            </a:avLst>
          </a:prstGeom>
          <a:solidFill>
            <a:srgbClr val="12141B"/>
          </a:solidFill>
          <a:ln w="12700">
            <a:solidFill>
              <a:srgbClr val="1F222C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520440" y="2606040"/>
            <a:ext cx="2697480" cy="54864"/>
          </a:xfrm>
          <a:prstGeom prst="rect">
            <a:avLst/>
          </a:prstGeom>
          <a:solidFill>
            <a:srgbClr val="00E0B0"/>
          </a:solidFill>
          <a:ln w="12700">
            <a:solidFill>
              <a:srgbClr val="00E0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2880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E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49040" y="32461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3749040" y="4023360"/>
            <a:ext cx="548640" cy="27432"/>
          </a:xfrm>
          <a:prstGeom prst="rect">
            <a:avLst/>
          </a:prstGeom>
          <a:solidFill>
            <a:srgbClr val="1F222C"/>
          </a:solidFill>
          <a:ln w="12700">
            <a:solidFill>
              <a:srgbClr val="1F22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41605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for purchases,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API routes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0" y="2606040"/>
            <a:ext cx="2697480" cy="2560320"/>
          </a:xfrm>
          <a:prstGeom prst="roundRect">
            <a:avLst>
              <a:gd name="adj" fmla="val 4286"/>
            </a:avLst>
          </a:prstGeom>
          <a:solidFill>
            <a:srgbClr val="12141B"/>
          </a:solidFill>
          <a:ln w="12700">
            <a:solidFill>
              <a:srgbClr val="1F222C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0" y="2606040"/>
            <a:ext cx="2697480" cy="54864"/>
          </a:xfrm>
          <a:prstGeom prst="rect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2880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C5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29400" y="32461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6629400" y="4023360"/>
            <a:ext cx="548640" cy="27432"/>
          </a:xfrm>
          <a:prstGeom prst="rect">
            <a:avLst/>
          </a:prstGeom>
          <a:solidFill>
            <a:srgbClr val="1F222C"/>
          </a:solidFill>
          <a:ln w="12700">
            <a:solidFill>
              <a:srgbClr val="1F222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9400" y="41605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Nanopayments + Developer-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Wallets SDK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281160" y="2606040"/>
            <a:ext cx="2697480" cy="2560320"/>
          </a:xfrm>
          <a:prstGeom prst="roundRect">
            <a:avLst>
              <a:gd name="adj" fmla="val 4286"/>
            </a:avLst>
          </a:prstGeom>
          <a:solidFill>
            <a:srgbClr val="12141B"/>
          </a:solidFill>
          <a:ln w="12700">
            <a:solidFill>
              <a:srgbClr val="1F222C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281160" y="2606040"/>
            <a:ext cx="2697480" cy="54864"/>
          </a:xfrm>
          <a:prstGeom prst="rect">
            <a:avLst/>
          </a:prstGeom>
          <a:solidFill>
            <a:srgbClr val="00E0B0"/>
          </a:solidFill>
          <a:ln w="12700">
            <a:solidFill>
              <a:srgbClr val="00E0B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09760" y="2880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E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SETTLEMENT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509760" y="32461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Testnet</a:t>
            </a:r>
            <a:endParaRPr lang="en-US" sz="2600" dirty="0"/>
          </a:p>
        </p:txBody>
      </p:sp>
      <p:sp>
        <p:nvSpPr>
          <p:cNvPr id="32" name="Shape 30"/>
          <p:cNvSpPr/>
          <p:nvPr/>
        </p:nvSpPr>
        <p:spPr>
          <a:xfrm>
            <a:off x="9509760" y="4023360"/>
            <a:ext cx="548640" cy="27432"/>
          </a:xfrm>
          <a:prstGeom prst="rect">
            <a:avLst/>
          </a:prstGeom>
          <a:solidFill>
            <a:srgbClr val="1F222C"/>
          </a:solidFill>
          <a:ln w="12700">
            <a:solidFill>
              <a:srgbClr val="1F222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09760" y="41605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USDC micro-transactions,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receipts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097280" y="576072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171A23"/>
          </a:solidFill>
          <a:ln w="12700">
            <a:solidFill>
              <a:srgbClr val="E6E8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97280" y="57607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651760" y="57607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5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3200400" y="576072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171A23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0" y="57607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5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54880" y="57607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5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303520" y="576072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171A23"/>
          </a:solidFill>
          <a:ln w="12700">
            <a:solidFill>
              <a:srgbClr val="00E0B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03520" y="57607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Supabase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858000" y="57607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5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7406640" y="576072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171A23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06640" y="57607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5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Circle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961120" y="57607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5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9509760" y="576072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171A23"/>
          </a:solidFill>
          <a:ln w="12700">
            <a:solidFill>
              <a:srgbClr val="00E0B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509760" y="57607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40080" y="6355080"/>
            <a:ext cx="1463040" cy="18288"/>
          </a:xfrm>
          <a:prstGeom prst="rect">
            <a:avLst/>
          </a:prstGeom>
          <a:solidFill>
            <a:srgbClr val="1F222C"/>
          </a:solidFill>
          <a:ln w="12700">
            <a:solidFill>
              <a:srgbClr val="1F222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789920" y="6309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8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4008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ArcTrust  · 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1828800"/>
            <a:ext cx="10972800" cy="8229600"/>
          </a:xfrm>
          <a:prstGeom prst="ellipse">
            <a:avLst/>
          </a:prstGeom>
          <a:solidFill>
            <a:srgbClr val="7C5CFF">
              <a:alpha val="16000"/>
            </a:srgbClr>
          </a:solidFill>
          <a:ln w="12700">
            <a:solidFill>
              <a:srgbClr val="7C5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0" y="1371600"/>
            <a:ext cx="10972800" cy="10972800"/>
          </a:xfrm>
          <a:prstGeom prst="ellipse">
            <a:avLst/>
          </a:prstGeom>
          <a:solidFill>
            <a:srgbClr val="00E0B0">
              <a:alpha val="12000"/>
            </a:srgbClr>
          </a:solidFill>
          <a:ln w="12700">
            <a:solidFill>
              <a:srgbClr val="00E0B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7C5CFF">
              <a:alpha val="70000"/>
            </a:srgbClr>
          </a:solidFill>
          <a:ln w="12700">
            <a:solidFill>
              <a:srgbClr val="7C5C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by the call.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by the receipt.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22960" y="4069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ArcTrust — the discovery layer for paid APIs on the Arc blockchain.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983480"/>
            <a:ext cx="2926080" cy="640080"/>
          </a:xfrm>
          <a:prstGeom prst="roundRect">
            <a:avLst>
              <a:gd name="adj" fmla="val 50000"/>
            </a:avLst>
          </a:prstGeom>
          <a:solidFill>
            <a:srgbClr val="00E0B0"/>
          </a:solidFill>
          <a:ln w="12700">
            <a:solidFill>
              <a:srgbClr val="00E0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983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B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it →  arctrust.app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86200" y="4983480"/>
            <a:ext cx="2926080" cy="640080"/>
          </a:xfrm>
          <a:prstGeom prst="roundRect">
            <a:avLst>
              <a:gd name="adj" fmla="val 50000"/>
            </a:avLst>
          </a:prstGeom>
          <a:solidFill>
            <a:srgbClr val="12141B">
              <a:alpha val="80000"/>
            </a:srgbClr>
          </a:solidFill>
          <a:ln w="12700">
            <a:solidFill>
              <a:srgbClr val="1F22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86200" y="4983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 on GitHub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6035040"/>
            <a:ext cx="274320" cy="36576"/>
          </a:xfrm>
          <a:prstGeom prst="rect">
            <a:avLst/>
          </a:prstGeom>
          <a:solidFill>
            <a:srgbClr val="00E0B0"/>
          </a:solidFill>
          <a:ln w="12700">
            <a:solidFill>
              <a:srgbClr val="00E0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5897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by Ryan  ·  Hackathon 2026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418320" y="5897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8B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you.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ArcTrust</dc:title>
  <dc:subject>PptxGenJS Presentation</dc:subject>
  <dc:creator>Ryan</dc:creator>
  <cp:lastModifiedBy>Ryan</cp:lastModifiedBy>
  <cp:revision>1</cp:revision>
  <dcterms:created xsi:type="dcterms:W3CDTF">2026-04-25T22:59:12Z</dcterms:created>
  <dcterms:modified xsi:type="dcterms:W3CDTF">2026-04-25T22:59:12Z</dcterms:modified>
</cp:coreProperties>
</file>